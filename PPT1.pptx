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7" r:id="rId3"/>
    <p:sldId id="258" r:id="rId4"/>
    <p:sldId id="259" r:id="rId5"/>
    <p:sldId id="260" r:id="rId6"/>
    <p:sldId id="256"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2F2008-4BB5-49A6-8B2C-B90A77E0544A}" v="1" dt="2026-10-27T09:55:16.0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51C1-AD72-E2B2-44BF-77C7396872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78C414-3E84-2100-F6F3-38A0E6CF9D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CC5FB4-39E1-A86F-0CD9-EB16F4D4732D}"/>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5" name="Footer Placeholder 4">
            <a:extLst>
              <a:ext uri="{FF2B5EF4-FFF2-40B4-BE49-F238E27FC236}">
                <a16:creationId xmlns:a16="http://schemas.microsoft.com/office/drawing/2014/main" id="{AD7E96F6-C74F-E200-5247-160CFDE57B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71CB9A-0C07-B8FA-5FA5-DA933255A8D4}"/>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2626415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E1DB8-959C-B1F8-FE50-32C17229DD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5E7853-6BE5-345E-5FF0-13655CBEA1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6B0374-E5D3-FAD5-023C-D92165CC3126}"/>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5" name="Footer Placeholder 4">
            <a:extLst>
              <a:ext uri="{FF2B5EF4-FFF2-40B4-BE49-F238E27FC236}">
                <a16:creationId xmlns:a16="http://schemas.microsoft.com/office/drawing/2014/main" id="{F7181FAE-FD96-D8C0-9B23-4D908951FC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1AD97B-470A-7394-DBAD-BB3240C6520D}"/>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2055333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5CF4-7B4E-FF2F-6F03-2C4B733929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729583-13F4-983E-57AE-AE15879F3C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531EF5-1D0D-A8B4-BB6A-2D60796ADB36}"/>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5" name="Footer Placeholder 4">
            <a:extLst>
              <a:ext uri="{FF2B5EF4-FFF2-40B4-BE49-F238E27FC236}">
                <a16:creationId xmlns:a16="http://schemas.microsoft.com/office/drawing/2014/main" id="{1024F58A-2F1E-E4D5-E452-6A6B7068BD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7C0330-1736-D561-7FE5-01DC592FF330}"/>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1550473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DCED7-2510-F91B-CC68-8A22BCFE65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4548AC-E299-8BB6-E0BC-B957C32229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D6B9A5-2F57-6D80-F2E4-099F7902DA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5B7FC1-4FEB-266D-E399-60BF46DF447E}"/>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6" name="Footer Placeholder 5">
            <a:extLst>
              <a:ext uri="{FF2B5EF4-FFF2-40B4-BE49-F238E27FC236}">
                <a16:creationId xmlns:a16="http://schemas.microsoft.com/office/drawing/2014/main" id="{9B166C89-1238-9BCC-C0F8-4B250B96ED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523057-A658-F67C-E80B-D6950B7D3592}"/>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1043507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D7671-AC96-F7AD-E723-9238F94E89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6B6DCA-D744-3B77-E0B6-A384F2FAD5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04F2E1-D232-04F9-6F5E-7DB7802166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6D8BF8D-03E2-2042-3B86-592B03EE7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B76224-CFE7-9E06-F80B-235B0A53CD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5F5679-7BEC-625E-DF34-1ED94A2764B4}"/>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8" name="Footer Placeholder 7">
            <a:extLst>
              <a:ext uri="{FF2B5EF4-FFF2-40B4-BE49-F238E27FC236}">
                <a16:creationId xmlns:a16="http://schemas.microsoft.com/office/drawing/2014/main" id="{3EC2E8E6-ED6B-5A4C-2881-D4E1E504692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FE06697-0B6C-2BDD-BDB0-9FB65A15444C}"/>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4141774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6B601-2F37-8B14-70CE-BDC36F36DA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A64DD4-C1D6-8430-34E5-86836913EE5F}"/>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4" name="Footer Placeholder 3">
            <a:extLst>
              <a:ext uri="{FF2B5EF4-FFF2-40B4-BE49-F238E27FC236}">
                <a16:creationId xmlns:a16="http://schemas.microsoft.com/office/drawing/2014/main" id="{E7DA08FD-A597-4CA9-3631-CE72AD70ABE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EE18D33-E785-5890-C1DE-587CC9F9DC63}"/>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3264148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84FABF-6F7C-96BB-71DD-982D872A5978}"/>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3" name="Footer Placeholder 2">
            <a:extLst>
              <a:ext uri="{FF2B5EF4-FFF2-40B4-BE49-F238E27FC236}">
                <a16:creationId xmlns:a16="http://schemas.microsoft.com/office/drawing/2014/main" id="{FBB9ECD7-629D-E5E1-59D3-09517A1BC0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DC621A-8877-D2BC-136A-A20FA6A71894}"/>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4218434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7DC53-34F8-BDBD-3575-FCABDFF0E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B1F8BB-DD5D-EAA7-89ED-125819DDD8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33AE87-B0FF-7F91-4360-42910585E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E13DF6-CE92-008D-5623-51B32C424A70}"/>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6" name="Footer Placeholder 5">
            <a:extLst>
              <a:ext uri="{FF2B5EF4-FFF2-40B4-BE49-F238E27FC236}">
                <a16:creationId xmlns:a16="http://schemas.microsoft.com/office/drawing/2014/main" id="{A1B57673-9DDD-E5BA-DBEF-83E95E9B5C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49569B-DBDC-9D92-8D4A-DC3D0B0408C1}"/>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343149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B18C8-9790-82F5-FC52-D089BB0FE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44BA86-863B-C91A-26F6-EDAA13F69D9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93DC7D-2176-7DDE-4559-BEF3315FD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DD89C0-CC72-40C0-1342-B97B0429166D}"/>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6" name="Footer Placeholder 5">
            <a:extLst>
              <a:ext uri="{FF2B5EF4-FFF2-40B4-BE49-F238E27FC236}">
                <a16:creationId xmlns:a16="http://schemas.microsoft.com/office/drawing/2014/main" id="{ECC15985-8A6E-BCFF-FAF5-425B8A4902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5AFA04-9629-523A-52F8-F872E9C4FFAE}"/>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1746025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CCCEA-E55E-66B9-55F6-52F12AD236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DC2AF6-0B60-B32F-FCFD-AE65AD35FB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F95794-1F10-CD46-0EAF-B5D324C2F775}"/>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5" name="Footer Placeholder 4">
            <a:extLst>
              <a:ext uri="{FF2B5EF4-FFF2-40B4-BE49-F238E27FC236}">
                <a16:creationId xmlns:a16="http://schemas.microsoft.com/office/drawing/2014/main" id="{97E3A33A-F6D9-2102-3751-F252B63515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CF9EDD-2BBB-421A-7F58-CC3DDC375D26}"/>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1247077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404439-3931-24A0-A7CB-E43E840A74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4D57DA-8F27-606B-5BC2-7BED9A2FEC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A5A59E-3BCB-6D23-DBDF-A32C30E5C121}"/>
              </a:ext>
            </a:extLst>
          </p:cNvPr>
          <p:cNvSpPr>
            <a:spLocks noGrp="1"/>
          </p:cNvSpPr>
          <p:nvPr>
            <p:ph type="dt" sz="half" idx="10"/>
          </p:nvPr>
        </p:nvSpPr>
        <p:spPr/>
        <p:txBody>
          <a:bodyPr/>
          <a:lstStyle/>
          <a:p>
            <a:fld id="{8067E7EC-956E-440C-BAF3-D0BB84653F04}" type="datetimeFigureOut">
              <a:rPr lang="en-IN" smtClean="0"/>
              <a:t>27-10-2026</a:t>
            </a:fld>
            <a:endParaRPr lang="en-IN"/>
          </a:p>
        </p:txBody>
      </p:sp>
      <p:sp>
        <p:nvSpPr>
          <p:cNvPr id="5" name="Footer Placeholder 4">
            <a:extLst>
              <a:ext uri="{FF2B5EF4-FFF2-40B4-BE49-F238E27FC236}">
                <a16:creationId xmlns:a16="http://schemas.microsoft.com/office/drawing/2014/main" id="{93030439-22C0-12BC-5BBF-CF9EAD3747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567486-24AD-A465-DEC6-9955A9C22049}"/>
              </a:ext>
            </a:extLst>
          </p:cNvPr>
          <p:cNvSpPr>
            <a:spLocks noGrp="1"/>
          </p:cNvSpPr>
          <p:nvPr>
            <p:ph type="sldNum" sz="quarter" idx="12"/>
          </p:nvPr>
        </p:nvSpPr>
        <p:spPr/>
        <p:txBody>
          <a:bodyPr/>
          <a:lstStyle/>
          <a:p>
            <a:fld id="{0DFC7B8B-CD8E-4DF6-93D3-43AE3BCE3FB3}" type="slidenum">
              <a:rPr lang="en-IN" smtClean="0"/>
              <a:t>‹#›</a:t>
            </a:fld>
            <a:endParaRPr lang="en-IN"/>
          </a:p>
        </p:txBody>
      </p:sp>
    </p:spTree>
    <p:extLst>
      <p:ext uri="{BB962C8B-B14F-4D97-AF65-F5344CB8AC3E}">
        <p14:creationId xmlns:p14="http://schemas.microsoft.com/office/powerpoint/2010/main" val="2156710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742296-F578-D884-E018-769CAB400A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23A963-A493-7ADA-2C1A-55B8403974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F4AFAC-C1CB-9EFA-F751-B3E784603A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67E7EC-956E-440C-BAF3-D0BB84653F04}" type="datetimeFigureOut">
              <a:rPr lang="en-IN" smtClean="0"/>
              <a:t>27-10-2026</a:t>
            </a:fld>
            <a:endParaRPr lang="en-IN"/>
          </a:p>
        </p:txBody>
      </p:sp>
      <p:sp>
        <p:nvSpPr>
          <p:cNvPr id="5" name="Footer Placeholder 4">
            <a:extLst>
              <a:ext uri="{FF2B5EF4-FFF2-40B4-BE49-F238E27FC236}">
                <a16:creationId xmlns:a16="http://schemas.microsoft.com/office/drawing/2014/main" id="{8B588E38-9FDB-6086-D520-9B47EF1D6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228AEF6-DF9B-C822-84DC-A0B550658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C7B8B-CD8E-4DF6-93D3-43AE3BCE3FB3}" type="slidenum">
              <a:rPr lang="en-IN" smtClean="0"/>
              <a:t>‹#›</a:t>
            </a:fld>
            <a:endParaRPr lang="en-IN"/>
          </a:p>
        </p:txBody>
      </p:sp>
    </p:spTree>
    <p:extLst>
      <p:ext uri="{BB962C8B-B14F-4D97-AF65-F5344CB8AC3E}">
        <p14:creationId xmlns:p14="http://schemas.microsoft.com/office/powerpoint/2010/main" val="216773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A346-DE29-88FB-A571-465BD4E19F80}"/>
              </a:ext>
            </a:extLst>
          </p:cNvPr>
          <p:cNvSpPr>
            <a:spLocks noGrp="1"/>
          </p:cNvSpPr>
          <p:nvPr>
            <p:ph type="ctrTitle"/>
          </p:nvPr>
        </p:nvSpPr>
        <p:spPr>
          <a:xfrm>
            <a:off x="1524000" y="314632"/>
            <a:ext cx="9144000" cy="2743199"/>
          </a:xfrm>
        </p:spPr>
        <p:txBody>
          <a:bodyPr/>
          <a:lstStyle/>
          <a:p>
            <a:r>
              <a:rPr lang="en-IN" dirty="0"/>
              <a:t>Student Attendence Management System</a:t>
            </a:r>
          </a:p>
        </p:txBody>
      </p:sp>
      <p:sp>
        <p:nvSpPr>
          <p:cNvPr id="3" name="Subtitle 2">
            <a:extLst>
              <a:ext uri="{FF2B5EF4-FFF2-40B4-BE49-F238E27FC236}">
                <a16:creationId xmlns:a16="http://schemas.microsoft.com/office/drawing/2014/main" id="{7B68E144-86AA-8C47-E336-50D40FB22026}"/>
              </a:ext>
            </a:extLst>
          </p:cNvPr>
          <p:cNvSpPr>
            <a:spLocks noGrp="1"/>
          </p:cNvSpPr>
          <p:nvPr>
            <p:ph type="subTitle" idx="1"/>
          </p:nvPr>
        </p:nvSpPr>
        <p:spPr>
          <a:xfrm>
            <a:off x="1523999" y="3800170"/>
            <a:ext cx="9271819" cy="1457630"/>
          </a:xfrm>
        </p:spPr>
        <p:txBody>
          <a:bodyPr/>
          <a:lstStyle/>
          <a:p>
            <a:r>
              <a:rPr lang="en-IN" dirty="0"/>
              <a:t>                                                                                                                Presented By</a:t>
            </a:r>
          </a:p>
          <a:p>
            <a:r>
              <a:rPr lang="en-IN" dirty="0"/>
              <a:t>                                                                                                                P.Amulya</a:t>
            </a:r>
          </a:p>
        </p:txBody>
      </p:sp>
    </p:spTree>
    <p:extLst>
      <p:ext uri="{BB962C8B-B14F-4D97-AF65-F5344CB8AC3E}">
        <p14:creationId xmlns:p14="http://schemas.microsoft.com/office/powerpoint/2010/main" val="2339644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7F4A3-5803-5047-C19E-770DBDF6D2F7}"/>
              </a:ext>
            </a:extLst>
          </p:cNvPr>
          <p:cNvSpPr>
            <a:spLocks noGrp="1"/>
          </p:cNvSpPr>
          <p:nvPr>
            <p:ph type="ctrTitle"/>
          </p:nvPr>
        </p:nvSpPr>
        <p:spPr>
          <a:xfrm>
            <a:off x="1101214" y="167149"/>
            <a:ext cx="9379974" cy="904568"/>
          </a:xfrm>
        </p:spPr>
        <p:txBody>
          <a:bodyPr>
            <a:normAutofit fontScale="90000"/>
          </a:bodyPr>
          <a:lstStyle/>
          <a:p>
            <a:r>
              <a:rPr lang="en-US" dirty="0"/>
              <a:t>ABSTRACT</a:t>
            </a:r>
            <a:endParaRPr lang="en-IN" dirty="0"/>
          </a:p>
        </p:txBody>
      </p:sp>
      <p:sp>
        <p:nvSpPr>
          <p:cNvPr id="3" name="Subtitle 2">
            <a:extLst>
              <a:ext uri="{FF2B5EF4-FFF2-40B4-BE49-F238E27FC236}">
                <a16:creationId xmlns:a16="http://schemas.microsoft.com/office/drawing/2014/main" id="{87BEE4D4-0D4C-8239-FFED-7198177D1B13}"/>
              </a:ext>
            </a:extLst>
          </p:cNvPr>
          <p:cNvSpPr>
            <a:spLocks noGrp="1"/>
          </p:cNvSpPr>
          <p:nvPr>
            <p:ph type="subTitle" idx="1"/>
          </p:nvPr>
        </p:nvSpPr>
        <p:spPr>
          <a:xfrm>
            <a:off x="314631" y="1465005"/>
            <a:ext cx="11582401" cy="5034117"/>
          </a:xfrm>
        </p:spPr>
        <p:txBody>
          <a:bodyPr>
            <a:normAutofit/>
          </a:bodyPr>
          <a:lstStyle/>
          <a:p>
            <a:pPr marL="342900" indent="-342900" algn="just">
              <a:buFont typeface="Arial" panose="020B0604020202020204" pitchFamily="34" charset="0"/>
              <a:buChar char="•"/>
            </a:pPr>
            <a:r>
              <a:rPr lang="en-IN" dirty="0"/>
              <a:t>The Student Attendance Management System is a software application developed to record, manage, and maintain student attendance efficiently. </a:t>
            </a:r>
          </a:p>
          <a:p>
            <a:pPr marL="342900" indent="-342900" algn="just">
              <a:buFont typeface="Arial" panose="020B0604020202020204" pitchFamily="34" charset="0"/>
              <a:buChar char="•"/>
            </a:pPr>
            <a:r>
              <a:rPr lang="en-IN" dirty="0"/>
              <a:t>The main purpose of this project is to reduce the manual work involved in traditional attendance-taking methods and make attendance management easier and more accurate.</a:t>
            </a:r>
          </a:p>
          <a:p>
            <a:pPr marL="342900" indent="-342900" algn="just">
              <a:buFont typeface="Arial" panose="020B0604020202020204" pitchFamily="34" charset="0"/>
              <a:buChar char="•"/>
            </a:pPr>
            <a:r>
              <a:rPr lang="en-IN" dirty="0"/>
              <a:t> The system helps save time, reduce paperwork, and minimize errors in maintaining attendance records.</a:t>
            </a:r>
          </a:p>
          <a:p>
            <a:pPr marL="342900" indent="-342900" algn="just">
              <a:buFont typeface="Arial" panose="020B0604020202020204" pitchFamily="34" charset="0"/>
              <a:buChar char="•"/>
            </a:pPr>
            <a:r>
              <a:rPr lang="en-IN" dirty="0"/>
              <a:t> It also helps teachers monitor student attendance regularly. </a:t>
            </a:r>
          </a:p>
          <a:p>
            <a:pPr marL="342900" indent="-342900" algn="just">
              <a:buFont typeface="Arial" panose="020B0604020202020204" pitchFamily="34" charset="0"/>
              <a:buChar char="•"/>
            </a:pPr>
            <a:r>
              <a:rPr lang="en-IN" dirty="0"/>
              <a:t>This project provides a simple and effective solution for educational institutions to manage attendance digitally. </a:t>
            </a:r>
          </a:p>
          <a:p>
            <a:pPr marL="342900" indent="-342900" algn="just">
              <a:buFont typeface="Arial" panose="020B0604020202020204" pitchFamily="34" charset="0"/>
              <a:buChar char="•"/>
            </a:pPr>
            <a:r>
              <a:rPr lang="en-IN" dirty="0"/>
              <a:t>In the future, the system can be enhanced with a graphical user interface, automatic attendance percentage calculation, report generation, and a web-based application.</a:t>
            </a:r>
          </a:p>
          <a:p>
            <a:pPr algn="just"/>
            <a:endParaRPr lang="en-IN" dirty="0"/>
          </a:p>
          <a:p>
            <a:pPr algn="just"/>
            <a:endParaRPr lang="en-IN" dirty="0"/>
          </a:p>
        </p:txBody>
      </p:sp>
    </p:spTree>
    <p:extLst>
      <p:ext uri="{BB962C8B-B14F-4D97-AF65-F5344CB8AC3E}">
        <p14:creationId xmlns:p14="http://schemas.microsoft.com/office/powerpoint/2010/main" val="2228750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EFFB-1A83-CD60-ABD3-2B62E6F09345}"/>
              </a:ext>
            </a:extLst>
          </p:cNvPr>
          <p:cNvSpPr>
            <a:spLocks noGrp="1"/>
          </p:cNvSpPr>
          <p:nvPr>
            <p:ph type="ctrTitle"/>
          </p:nvPr>
        </p:nvSpPr>
        <p:spPr>
          <a:xfrm>
            <a:off x="1327356" y="167148"/>
            <a:ext cx="9144000" cy="953729"/>
          </a:xfrm>
        </p:spPr>
        <p:txBody>
          <a:bodyPr>
            <a:normAutofit/>
          </a:bodyPr>
          <a:lstStyle/>
          <a:p>
            <a:r>
              <a:rPr lang="en-US" sz="5400" dirty="0"/>
              <a:t>INTRODUCTION</a:t>
            </a:r>
            <a:endParaRPr lang="en-IN" sz="5400" dirty="0"/>
          </a:p>
        </p:txBody>
      </p:sp>
      <p:sp>
        <p:nvSpPr>
          <p:cNvPr id="3" name="Subtitle 2">
            <a:extLst>
              <a:ext uri="{FF2B5EF4-FFF2-40B4-BE49-F238E27FC236}">
                <a16:creationId xmlns:a16="http://schemas.microsoft.com/office/drawing/2014/main" id="{F1F0C78A-EFAE-3539-03C8-3F936C5F6EB1}"/>
              </a:ext>
            </a:extLst>
          </p:cNvPr>
          <p:cNvSpPr>
            <a:spLocks noGrp="1"/>
          </p:cNvSpPr>
          <p:nvPr>
            <p:ph type="subTitle" idx="1"/>
          </p:nvPr>
        </p:nvSpPr>
        <p:spPr>
          <a:xfrm>
            <a:off x="481781" y="1435510"/>
            <a:ext cx="11287432" cy="5093108"/>
          </a:xfrm>
        </p:spPr>
        <p:txBody>
          <a:bodyPr>
            <a:normAutofit/>
          </a:bodyPr>
          <a:lstStyle/>
          <a:p>
            <a:pPr marL="342900" indent="-342900" algn="just">
              <a:buFont typeface="Arial" panose="020B0604020202020204" pitchFamily="34" charset="0"/>
              <a:buChar char="•"/>
            </a:pPr>
            <a:r>
              <a:rPr lang="en-IN" dirty="0"/>
              <a:t>The Student Attendance Management System is a software application designed to record and manage student attendance in an efficient and organized manner.</a:t>
            </a:r>
          </a:p>
          <a:p>
            <a:pPr marL="342900" indent="-342900" algn="just">
              <a:buFont typeface="Arial" panose="020B0604020202020204" pitchFamily="34" charset="0"/>
              <a:buChar char="•"/>
            </a:pPr>
            <a:r>
              <a:rPr lang="en-IN" dirty="0"/>
              <a:t> Attendance is an important part of every educational institution because it helps teachers monitor students' regularity and participation in classes.</a:t>
            </a:r>
          </a:p>
          <a:p>
            <a:pPr marL="342900" indent="-342900" algn="just">
              <a:buFont typeface="Arial" panose="020B0604020202020204" pitchFamily="34" charset="0"/>
              <a:buChar char="•"/>
            </a:pPr>
            <a:r>
              <a:rPr lang="en-IN" dirty="0"/>
              <a:t> In the traditional method, attendance is recorded manually in registers, which requires more time and effort. </a:t>
            </a:r>
          </a:p>
          <a:p>
            <a:pPr marL="342900" indent="-342900" algn="just">
              <a:buFont typeface="Arial" panose="020B0604020202020204" pitchFamily="34" charset="0"/>
              <a:buChar char="•"/>
            </a:pPr>
            <a:r>
              <a:rPr lang="en-IN" dirty="0"/>
              <a:t>Manual record-keeping can also lead to errors, missing records, and difficulties in calculating attendance. </a:t>
            </a:r>
          </a:p>
          <a:p>
            <a:pPr marL="342900" indent="-342900" algn="just">
              <a:buFont typeface="Arial" panose="020B0604020202020204" pitchFamily="34" charset="0"/>
              <a:buChar char="•"/>
            </a:pPr>
            <a:r>
              <a:rPr lang="en-IN" dirty="0"/>
              <a:t>To overcome these problems, the Student Attendance Management System provides a digital solution for maintaining attendance records.</a:t>
            </a:r>
          </a:p>
          <a:p>
            <a:pPr marL="342900" indent="-342900" algn="just">
              <a:buFont typeface="Arial" panose="020B0604020202020204" pitchFamily="34" charset="0"/>
              <a:buChar char="•"/>
            </a:pPr>
            <a:r>
              <a:rPr lang="en-IN" dirty="0"/>
              <a:t>The main goal of this project is to reduce paperwork, save time, improve accuracy, and make attendance management easier for teachers and educational institutions.</a:t>
            </a:r>
          </a:p>
          <a:p>
            <a:pPr algn="just"/>
            <a:endParaRPr lang="en-IN" dirty="0"/>
          </a:p>
          <a:p>
            <a:pPr algn="just"/>
            <a:endParaRPr lang="en-IN" dirty="0"/>
          </a:p>
          <a:p>
            <a:pPr algn="just"/>
            <a:endParaRPr lang="en-IN" dirty="0"/>
          </a:p>
        </p:txBody>
      </p:sp>
    </p:spTree>
    <p:extLst>
      <p:ext uri="{BB962C8B-B14F-4D97-AF65-F5344CB8AC3E}">
        <p14:creationId xmlns:p14="http://schemas.microsoft.com/office/powerpoint/2010/main" val="4144632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15890-F588-BCCA-1EDA-9E6DB3EE75E4}"/>
              </a:ext>
            </a:extLst>
          </p:cNvPr>
          <p:cNvSpPr>
            <a:spLocks noGrp="1"/>
          </p:cNvSpPr>
          <p:nvPr>
            <p:ph type="ctrTitle"/>
          </p:nvPr>
        </p:nvSpPr>
        <p:spPr>
          <a:xfrm>
            <a:off x="1612490" y="176981"/>
            <a:ext cx="9144000" cy="943896"/>
          </a:xfrm>
        </p:spPr>
        <p:txBody>
          <a:bodyPr>
            <a:normAutofit/>
          </a:bodyPr>
          <a:lstStyle/>
          <a:p>
            <a:r>
              <a:rPr lang="en-US" sz="5400" dirty="0"/>
              <a:t>OBJECTIVES</a:t>
            </a:r>
            <a:endParaRPr lang="en-IN" sz="5400" dirty="0"/>
          </a:p>
        </p:txBody>
      </p:sp>
      <p:sp>
        <p:nvSpPr>
          <p:cNvPr id="3" name="Subtitle 2">
            <a:extLst>
              <a:ext uri="{FF2B5EF4-FFF2-40B4-BE49-F238E27FC236}">
                <a16:creationId xmlns:a16="http://schemas.microsoft.com/office/drawing/2014/main" id="{5CDED0A6-8797-85D6-5982-1DB77E678718}"/>
              </a:ext>
            </a:extLst>
          </p:cNvPr>
          <p:cNvSpPr>
            <a:spLocks noGrp="1"/>
          </p:cNvSpPr>
          <p:nvPr>
            <p:ph type="subTitle" idx="1"/>
          </p:nvPr>
        </p:nvSpPr>
        <p:spPr>
          <a:xfrm>
            <a:off x="403123" y="1347019"/>
            <a:ext cx="11464412" cy="5102942"/>
          </a:xfrm>
        </p:spPr>
        <p:txBody>
          <a:bodyPr/>
          <a:lstStyle/>
          <a:p>
            <a:pPr marL="342900" indent="-342900" algn="just">
              <a:buFont typeface="Arial" panose="020B0604020202020204" pitchFamily="34" charset="0"/>
              <a:buChar char="•"/>
            </a:pPr>
            <a:r>
              <a:rPr lang="en-IN" dirty="0"/>
              <a:t>To maintain student attendance records digitally instead of using traditional registers.</a:t>
            </a:r>
          </a:p>
          <a:p>
            <a:pPr marL="342900" indent="-342900" algn="just">
              <a:buFont typeface="Arial" panose="020B0604020202020204" pitchFamily="34" charset="0"/>
              <a:buChar char="•"/>
            </a:pPr>
            <a:r>
              <a:rPr lang="en-IN" dirty="0"/>
              <a:t>To store and manage student details in an organized manner.</a:t>
            </a:r>
          </a:p>
          <a:p>
            <a:pPr marL="342900" indent="-342900" algn="just">
              <a:buFont typeface="Arial" panose="020B0604020202020204" pitchFamily="34" charset="0"/>
              <a:buChar char="•"/>
            </a:pPr>
            <a:r>
              <a:rPr lang="en-IN" dirty="0"/>
              <a:t>To reduce the time and effort required to record daily attendance.</a:t>
            </a:r>
          </a:p>
          <a:p>
            <a:pPr marL="342900" indent="-342900" algn="just">
              <a:buFont typeface="Arial" panose="020B0604020202020204" pitchFamily="34" charset="0"/>
              <a:buChar char="•"/>
            </a:pPr>
            <a:r>
              <a:rPr lang="en-IN" dirty="0"/>
              <a:t>To minimize human errors and maintain accurate attendance records.</a:t>
            </a:r>
          </a:p>
          <a:p>
            <a:pPr marL="342900" indent="-342900" algn="just">
              <a:buFont typeface="Arial" panose="020B0604020202020204" pitchFamily="34" charset="0"/>
              <a:buChar char="•"/>
            </a:pPr>
            <a:r>
              <a:rPr lang="en-IN" dirty="0"/>
              <a:t>To retrieve student attendance records quickly whenever required.</a:t>
            </a:r>
          </a:p>
          <a:p>
            <a:pPr marL="342900" indent="-342900" algn="just">
              <a:buFont typeface="Arial" panose="020B0604020202020204" pitchFamily="34" charset="0"/>
              <a:buChar char="•"/>
            </a:pPr>
            <a:r>
              <a:rPr lang="en-IN" dirty="0"/>
              <a:t>To store and manage attendance information using Python and SQL/SQLite.</a:t>
            </a:r>
          </a:p>
          <a:p>
            <a:pPr marL="342900" indent="-342900" algn="just">
              <a:buFont typeface="Arial" panose="020B0604020202020204" pitchFamily="34" charset="0"/>
              <a:buChar char="•"/>
            </a:pPr>
            <a:r>
              <a:rPr lang="en-IN" dirty="0"/>
              <a:t>To help teachers monitor students' attendance regularly.</a:t>
            </a:r>
          </a:p>
          <a:p>
            <a:pPr marL="342900" indent="-342900" algn="just">
              <a:buFont typeface="Arial" panose="020B0604020202020204" pitchFamily="34" charset="0"/>
              <a:buChar char="•"/>
            </a:pPr>
            <a:r>
              <a:rPr lang="en-IN" dirty="0"/>
              <a:t>To reduce the use of paper and make attendance management more efficient.</a:t>
            </a:r>
          </a:p>
          <a:p>
            <a:pPr algn="just"/>
            <a:endParaRPr lang="en-IN" dirty="0"/>
          </a:p>
        </p:txBody>
      </p:sp>
    </p:spTree>
    <p:extLst>
      <p:ext uri="{BB962C8B-B14F-4D97-AF65-F5344CB8AC3E}">
        <p14:creationId xmlns:p14="http://schemas.microsoft.com/office/powerpoint/2010/main" val="756306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BDBD9-025E-2161-D626-E795E45367B2}"/>
              </a:ext>
            </a:extLst>
          </p:cNvPr>
          <p:cNvSpPr>
            <a:spLocks noGrp="1"/>
          </p:cNvSpPr>
          <p:nvPr>
            <p:ph type="ctrTitle"/>
          </p:nvPr>
        </p:nvSpPr>
        <p:spPr>
          <a:xfrm>
            <a:off x="1524000" y="157317"/>
            <a:ext cx="9144000" cy="983226"/>
          </a:xfrm>
        </p:spPr>
        <p:txBody>
          <a:bodyPr>
            <a:normAutofit/>
          </a:bodyPr>
          <a:lstStyle/>
          <a:p>
            <a:r>
              <a:rPr lang="en-US" sz="5400" dirty="0"/>
              <a:t>TECHNOLOGIES</a:t>
            </a:r>
            <a:endParaRPr lang="en-IN" sz="5400" dirty="0"/>
          </a:p>
        </p:txBody>
      </p:sp>
      <p:sp>
        <p:nvSpPr>
          <p:cNvPr id="3" name="Subtitle 2">
            <a:extLst>
              <a:ext uri="{FF2B5EF4-FFF2-40B4-BE49-F238E27FC236}">
                <a16:creationId xmlns:a16="http://schemas.microsoft.com/office/drawing/2014/main" id="{02749F70-9414-7547-6CC8-1CEECEF0020F}"/>
              </a:ext>
            </a:extLst>
          </p:cNvPr>
          <p:cNvSpPr>
            <a:spLocks noGrp="1"/>
          </p:cNvSpPr>
          <p:nvPr>
            <p:ph type="subTitle" idx="1"/>
          </p:nvPr>
        </p:nvSpPr>
        <p:spPr>
          <a:xfrm>
            <a:off x="550605" y="1288026"/>
            <a:ext cx="11228440" cy="4817806"/>
          </a:xfrm>
        </p:spPr>
        <p:txBody>
          <a:bodyPr/>
          <a:lstStyle/>
          <a:p>
            <a:pPr marL="342900" indent="-342900" algn="just">
              <a:buFont typeface="Arial" panose="020B0604020202020204" pitchFamily="34" charset="0"/>
              <a:buChar char="•"/>
            </a:pPr>
            <a:r>
              <a:rPr lang="en-US" dirty="0"/>
              <a:t>PYTHON – Application logic and user interaction.</a:t>
            </a:r>
          </a:p>
          <a:p>
            <a:pPr marL="342900" indent="-342900" algn="just">
              <a:buFont typeface="Arial" panose="020B0604020202020204" pitchFamily="34" charset="0"/>
              <a:buChar char="•"/>
            </a:pPr>
            <a:r>
              <a:rPr lang="en-US" dirty="0"/>
              <a:t>SQL – Stores student and attendance data.</a:t>
            </a:r>
          </a:p>
          <a:p>
            <a:pPr marL="342900" indent="-342900" algn="just">
              <a:buFont typeface="Arial" panose="020B0604020202020204" pitchFamily="34" charset="0"/>
              <a:buChar char="•"/>
            </a:pPr>
            <a:r>
              <a:rPr lang="en-US" dirty="0"/>
              <a:t>Database tables – Student and Attendence.</a:t>
            </a:r>
          </a:p>
          <a:p>
            <a:pPr algn="just"/>
            <a:endParaRPr lang="en-IN" dirty="0"/>
          </a:p>
        </p:txBody>
      </p:sp>
    </p:spTree>
    <p:extLst>
      <p:ext uri="{BB962C8B-B14F-4D97-AF65-F5344CB8AC3E}">
        <p14:creationId xmlns:p14="http://schemas.microsoft.com/office/powerpoint/2010/main" val="143657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9F5F7-735A-4BB1-8E87-C9B17ACAAA9E}"/>
              </a:ext>
            </a:extLst>
          </p:cNvPr>
          <p:cNvSpPr>
            <a:spLocks noGrp="1"/>
          </p:cNvSpPr>
          <p:nvPr>
            <p:ph type="ctrTitle"/>
          </p:nvPr>
        </p:nvSpPr>
        <p:spPr>
          <a:xfrm>
            <a:off x="1386348" y="226142"/>
            <a:ext cx="9144000" cy="973393"/>
          </a:xfrm>
        </p:spPr>
        <p:txBody>
          <a:bodyPr>
            <a:normAutofit/>
          </a:bodyPr>
          <a:lstStyle/>
          <a:p>
            <a:r>
              <a:rPr lang="en-US" sz="5400" dirty="0"/>
              <a:t>ADVANTAGES</a:t>
            </a:r>
            <a:endParaRPr lang="en-IN" sz="5400" dirty="0"/>
          </a:p>
        </p:txBody>
      </p:sp>
      <p:sp>
        <p:nvSpPr>
          <p:cNvPr id="3" name="Subtitle 2">
            <a:extLst>
              <a:ext uri="{FF2B5EF4-FFF2-40B4-BE49-F238E27FC236}">
                <a16:creationId xmlns:a16="http://schemas.microsoft.com/office/drawing/2014/main" id="{30F98595-4B1A-3641-5AB1-1643F8D84BDA}"/>
              </a:ext>
            </a:extLst>
          </p:cNvPr>
          <p:cNvSpPr>
            <a:spLocks noGrp="1"/>
          </p:cNvSpPr>
          <p:nvPr>
            <p:ph type="subTitle" idx="1"/>
          </p:nvPr>
        </p:nvSpPr>
        <p:spPr>
          <a:xfrm>
            <a:off x="599767" y="1524000"/>
            <a:ext cx="11159613" cy="4876800"/>
          </a:xfrm>
        </p:spPr>
        <p:txBody>
          <a:bodyPr/>
          <a:lstStyle/>
          <a:p>
            <a:pPr marL="342900" indent="-342900" algn="just">
              <a:buFont typeface="Arial" panose="020B0604020202020204" pitchFamily="34" charset="0"/>
              <a:buChar char="•"/>
            </a:pPr>
            <a:r>
              <a:rPr lang="en-IN" dirty="0"/>
              <a:t>Reduces the time required to record and manage student attendance.</a:t>
            </a:r>
          </a:p>
          <a:p>
            <a:pPr marL="342900" lvl="0" indent="-342900" algn="just">
              <a:buFont typeface="Arial" panose="020B0604020202020204" pitchFamily="34" charset="0"/>
              <a:buChar char="•"/>
            </a:pPr>
            <a:r>
              <a:rPr lang="en-IN" dirty="0"/>
              <a:t>Replaces traditional attendance registers with digital records.</a:t>
            </a:r>
          </a:p>
          <a:p>
            <a:pPr marL="342900" lvl="0" indent="-342900" algn="just">
              <a:buFont typeface="Arial" panose="020B0604020202020204" pitchFamily="34" charset="0"/>
              <a:buChar char="•"/>
            </a:pPr>
            <a:r>
              <a:rPr lang="en-IN" dirty="0"/>
              <a:t> Minimizes human errors while maintaining attendance records.</a:t>
            </a:r>
          </a:p>
          <a:p>
            <a:pPr marL="342900" lvl="0" indent="-342900" algn="just">
              <a:buFont typeface="Arial" panose="020B0604020202020204" pitchFamily="34" charset="0"/>
              <a:buChar char="•"/>
            </a:pPr>
            <a:r>
              <a:rPr lang="en-IN" dirty="0"/>
              <a:t> Allows users to retrieve student details and attendance records quickly.</a:t>
            </a:r>
          </a:p>
          <a:p>
            <a:pPr marL="342900" lvl="0" indent="-342900" algn="just">
              <a:buFont typeface="Arial" panose="020B0604020202020204" pitchFamily="34" charset="0"/>
              <a:buChar char="•"/>
            </a:pPr>
            <a:r>
              <a:rPr lang="en-IN" dirty="0"/>
              <a:t>Stores student information and attendance details systematically in a database.</a:t>
            </a:r>
          </a:p>
          <a:p>
            <a:pPr marL="342900" lvl="0" indent="-342900" algn="just">
              <a:buFont typeface="Arial" panose="020B0604020202020204" pitchFamily="34" charset="0"/>
              <a:buChar char="•"/>
            </a:pPr>
            <a:r>
              <a:rPr lang="en-IN" dirty="0"/>
              <a:t> Helps teachers monitor students' daily attendance.</a:t>
            </a:r>
          </a:p>
          <a:p>
            <a:pPr marL="342900" lvl="0" indent="-342900" algn="just">
              <a:buFont typeface="Arial" panose="020B0604020202020204" pitchFamily="34" charset="0"/>
              <a:buChar char="•"/>
            </a:pPr>
            <a:r>
              <a:rPr lang="en-IN" dirty="0"/>
              <a:t> Makes it easier to add, view, and update student information.</a:t>
            </a:r>
          </a:p>
          <a:p>
            <a:pPr marL="342900" lvl="0" indent="-342900" algn="just">
              <a:buFont typeface="Arial" panose="020B0604020202020204" pitchFamily="34" charset="0"/>
              <a:buChar char="•"/>
            </a:pPr>
            <a:r>
              <a:rPr lang="en-IN" dirty="0"/>
              <a:t> Reduces the need for paper and physical storage.</a:t>
            </a:r>
          </a:p>
          <a:p>
            <a:pPr algn="just"/>
            <a:endParaRPr lang="en-IN" dirty="0"/>
          </a:p>
        </p:txBody>
      </p:sp>
    </p:spTree>
    <p:extLst>
      <p:ext uri="{BB962C8B-B14F-4D97-AF65-F5344CB8AC3E}">
        <p14:creationId xmlns:p14="http://schemas.microsoft.com/office/powerpoint/2010/main" val="1150598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697012-27BB-B045-90C6-931E7DF249A0}"/>
              </a:ext>
            </a:extLst>
          </p:cNvPr>
          <p:cNvSpPr txBox="1"/>
          <p:nvPr/>
        </p:nvSpPr>
        <p:spPr>
          <a:xfrm>
            <a:off x="3854246" y="-580103"/>
            <a:ext cx="9901084" cy="1754326"/>
          </a:xfrm>
          <a:prstGeom prst="rect">
            <a:avLst/>
          </a:prstGeom>
          <a:noFill/>
        </p:spPr>
        <p:txBody>
          <a:bodyPr wrap="square" rtlCol="0">
            <a:spAutoFit/>
          </a:bodyPr>
          <a:lstStyle/>
          <a:p>
            <a:r>
              <a:rPr lang="en-US" sz="5400" dirty="0"/>
              <a:t>                                                                                              Screenshots</a:t>
            </a:r>
            <a:endParaRPr lang="en-IN" dirty="0"/>
          </a:p>
        </p:txBody>
      </p:sp>
      <p:pic>
        <p:nvPicPr>
          <p:cNvPr id="5" name="Picture 4">
            <a:extLst>
              <a:ext uri="{FF2B5EF4-FFF2-40B4-BE49-F238E27FC236}">
                <a16:creationId xmlns:a16="http://schemas.microsoft.com/office/drawing/2014/main" id="{C4528242-A75D-0DB3-FF9E-9FB5250838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675" y="1396181"/>
            <a:ext cx="10714649" cy="5240593"/>
          </a:xfrm>
          <a:prstGeom prst="rect">
            <a:avLst/>
          </a:prstGeom>
        </p:spPr>
      </p:pic>
    </p:spTree>
    <p:extLst>
      <p:ext uri="{BB962C8B-B14F-4D97-AF65-F5344CB8AC3E}">
        <p14:creationId xmlns:p14="http://schemas.microsoft.com/office/powerpoint/2010/main" val="494317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8269A9-C6B8-4578-5984-5CFB0C50A8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58" y="344128"/>
            <a:ext cx="11513573" cy="6135329"/>
          </a:xfrm>
          <a:prstGeom prst="rect">
            <a:avLst/>
          </a:prstGeom>
        </p:spPr>
      </p:pic>
    </p:spTree>
    <p:extLst>
      <p:ext uri="{BB962C8B-B14F-4D97-AF65-F5344CB8AC3E}">
        <p14:creationId xmlns:p14="http://schemas.microsoft.com/office/powerpoint/2010/main" val="1177923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C8F09B-D564-5448-0369-FE9D086059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130" y="363794"/>
            <a:ext cx="11562736" cy="6184490"/>
          </a:xfrm>
          <a:prstGeom prst="rect">
            <a:avLst/>
          </a:prstGeom>
        </p:spPr>
      </p:pic>
    </p:spTree>
    <p:extLst>
      <p:ext uri="{BB962C8B-B14F-4D97-AF65-F5344CB8AC3E}">
        <p14:creationId xmlns:p14="http://schemas.microsoft.com/office/powerpoint/2010/main" val="139136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174B27-44F2-ED7F-83A3-56CC76C7C4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28" y="291720"/>
            <a:ext cx="11080955" cy="6274560"/>
          </a:xfrm>
          <a:prstGeom prst="rect">
            <a:avLst/>
          </a:prstGeom>
        </p:spPr>
      </p:pic>
    </p:spTree>
    <p:extLst>
      <p:ext uri="{BB962C8B-B14F-4D97-AF65-F5344CB8AC3E}">
        <p14:creationId xmlns:p14="http://schemas.microsoft.com/office/powerpoint/2010/main" val="4083586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1093-C98D-01E3-446E-866379F49DBA}"/>
              </a:ext>
            </a:extLst>
          </p:cNvPr>
          <p:cNvSpPr>
            <a:spLocks noGrp="1"/>
          </p:cNvSpPr>
          <p:nvPr>
            <p:ph type="ctrTitle"/>
          </p:nvPr>
        </p:nvSpPr>
        <p:spPr>
          <a:xfrm>
            <a:off x="1524000" y="226142"/>
            <a:ext cx="9144000" cy="1170039"/>
          </a:xfrm>
        </p:spPr>
        <p:txBody>
          <a:bodyPr>
            <a:normAutofit/>
          </a:bodyPr>
          <a:lstStyle/>
          <a:p>
            <a:r>
              <a:rPr lang="en-US" sz="5400" dirty="0"/>
              <a:t>CONCLUSION</a:t>
            </a:r>
            <a:endParaRPr lang="en-IN" sz="5400" dirty="0"/>
          </a:p>
        </p:txBody>
      </p:sp>
      <p:sp>
        <p:nvSpPr>
          <p:cNvPr id="3" name="Subtitle 2">
            <a:extLst>
              <a:ext uri="{FF2B5EF4-FFF2-40B4-BE49-F238E27FC236}">
                <a16:creationId xmlns:a16="http://schemas.microsoft.com/office/drawing/2014/main" id="{94D70CE9-EA4B-F5E5-C01E-13197DE0E298}"/>
              </a:ext>
            </a:extLst>
          </p:cNvPr>
          <p:cNvSpPr>
            <a:spLocks noGrp="1"/>
          </p:cNvSpPr>
          <p:nvPr>
            <p:ph type="subTitle" idx="1"/>
          </p:nvPr>
        </p:nvSpPr>
        <p:spPr>
          <a:xfrm>
            <a:off x="530941" y="1651819"/>
            <a:ext cx="11307097" cy="4463846"/>
          </a:xfrm>
        </p:spPr>
        <p:txBody>
          <a:bodyPr>
            <a:normAutofit/>
          </a:bodyPr>
          <a:lstStyle/>
          <a:p>
            <a:pPr algn="just"/>
            <a:r>
              <a:rPr lang="en-IN" dirty="0"/>
              <a:t>The Student Attendance Management System helps to maintain student attendance records easily and accurately. It reduces manual work, saves time, and makes attendance tracking simple. By using Python and SQL, the system stores and manages student details efficiently. In the future, it can be improved by adding features like biometric attendance and automatic notifications.</a:t>
            </a:r>
          </a:p>
          <a:p>
            <a:pPr algn="just"/>
            <a:endParaRPr lang="en-IN" dirty="0"/>
          </a:p>
        </p:txBody>
      </p:sp>
    </p:spTree>
    <p:extLst>
      <p:ext uri="{BB962C8B-B14F-4D97-AF65-F5344CB8AC3E}">
        <p14:creationId xmlns:p14="http://schemas.microsoft.com/office/powerpoint/2010/main" val="3342609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1750F3-28AE-2153-FFAD-F681CCB04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2275" y="1214437"/>
            <a:ext cx="6267450" cy="4429125"/>
          </a:xfrm>
          <a:prstGeom prst="rect">
            <a:avLst/>
          </a:prstGeom>
        </p:spPr>
      </p:pic>
    </p:spTree>
    <p:extLst>
      <p:ext uri="{BB962C8B-B14F-4D97-AF65-F5344CB8AC3E}">
        <p14:creationId xmlns:p14="http://schemas.microsoft.com/office/powerpoint/2010/main" val="3466024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526</Words>
  <Application>Microsoft Office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Student Attendence Management System</vt:lpstr>
      <vt:lpstr>ABSTRACT</vt:lpstr>
      <vt:lpstr>INTRODUCTION</vt:lpstr>
      <vt:lpstr>OBJECTIVES</vt:lpstr>
      <vt:lpstr>TECHNOLOGIES</vt:lpstr>
      <vt:lpstr>ADVANTAGES</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Amulya Blessy</dc:creator>
  <cp:lastModifiedBy>Amulya Blessy</cp:lastModifiedBy>
  <cp:revision>2</cp:revision>
  <dcterms:created xsi:type="dcterms:W3CDTF">2026-10-26T16:32:59Z</dcterms:created>
  <dcterms:modified xsi:type="dcterms:W3CDTF">2026-10-27T09:55:26Z</dcterms:modified>
</cp:coreProperties>
</file>